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 Medium"/>
      <p:regular r:id="rId11"/>
      <p:bold r:id="rId12"/>
      <p:italic r:id="rId13"/>
      <p:boldItalic r:id="rId14"/>
    </p:embeddedFont>
    <p:embeddedFont>
      <p:font typeface="Inter SemiBold"/>
      <p:regular r:id="rId15"/>
      <p:bold r:id="rId16"/>
      <p:italic r:id="rId17"/>
      <p:boldItalic r:id="rId18"/>
    </p:embeddedFont>
    <p:embeddedFont>
      <p:font typeface="Inter"/>
      <p:bold r:id="rId19"/>
      <p:boldItalic r:id="rId20"/>
    </p:embeddedFont>
    <p:embeddedFont>
      <p:font typeface="Roboto Mono"/>
      <p:bold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obotoMonoMedium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Medium-italic.fntdata"/><Relationship Id="rId12" Type="http://schemas.openxmlformats.org/officeDocument/2006/relationships/font" Target="fonts/RobotoMonoMedium-bold.fntdata"/><Relationship Id="rId15" Type="http://schemas.openxmlformats.org/officeDocument/2006/relationships/font" Target="fonts/InterSemiBold-regular.fntdata"/><Relationship Id="rId14" Type="http://schemas.openxmlformats.org/officeDocument/2006/relationships/font" Target="fonts/RobotoMonoMedium-boldItalic.fntdata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bold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fb825728484569c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5fb825728484569c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5fb825728484569c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5fb825728484569c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5fb825728484569c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5fb825728484569c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5fb825728484569c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h5fb825728484569c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5fb825728484569c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5fb825728484569c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fb825728484569c_13_0)">
  <p:cSld name="Generated (h5fb825728484569c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" name="Google Shape;58;p14"/>
          <p:cNvGrpSpPr/>
          <p:nvPr/>
        </p:nvGrpSpPr>
        <p:grpSpPr>
          <a:xfrm>
            <a:off x="457200" y="228600"/>
            <a:ext cx="8229600" cy="76200"/>
            <a:chOff x="457200" y="228600"/>
            <a:chExt cx="8229600" cy="76200"/>
          </a:xfrm>
        </p:grpSpPr>
        <p:sp>
          <p:nvSpPr>
            <p:cNvPr id="59" name="Google Shape;59;p14"/>
            <p:cNvSpPr/>
            <p:nvPr/>
          </p:nvSpPr>
          <p:spPr>
            <a:xfrm>
              <a:off x="457200" y="228600"/>
              <a:ext cx="762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0" name="Google Shape;60;p14"/>
            <p:cNvCxnSpPr/>
            <p:nvPr/>
          </p:nvCxnSpPr>
          <p:spPr>
            <a:xfrm>
              <a:off x="609600" y="266700"/>
              <a:ext cx="8077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1" name="Google Shape;61;p14"/>
          <p:cNvGrpSpPr/>
          <p:nvPr/>
        </p:nvGrpSpPr>
        <p:grpSpPr>
          <a:xfrm>
            <a:off x="457200" y="1143000"/>
            <a:ext cx="76200" cy="76200"/>
            <a:chOff x="0" y="0"/>
            <a:chExt cx="76200" cy="76200"/>
          </a:xfrm>
        </p:grpSpPr>
        <p:cxnSp>
          <p:nvCxnSpPr>
            <p:cNvPr id="62" name="Google Shape;62;p14"/>
            <p:cNvCxnSpPr/>
            <p:nvPr/>
          </p:nvCxnSpPr>
          <p:spPr>
            <a:xfrm>
              <a:off x="0" y="3810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38100" y="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4" name="Google Shape;64;p14"/>
          <p:cNvGrpSpPr/>
          <p:nvPr/>
        </p:nvGrpSpPr>
        <p:grpSpPr>
          <a:xfrm>
            <a:off x="457200" y="4572000"/>
            <a:ext cx="76200" cy="76200"/>
            <a:chOff x="0" y="0"/>
            <a:chExt cx="76200" cy="76200"/>
          </a:xfrm>
        </p:grpSpPr>
        <p:cxnSp>
          <p:nvCxnSpPr>
            <p:cNvPr id="65" name="Google Shape;65;p14"/>
            <p:cNvCxnSpPr/>
            <p:nvPr/>
          </p:nvCxnSpPr>
          <p:spPr>
            <a:xfrm>
              <a:off x="0" y="3810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38100" y="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7" name="Google Shape;67;p14"/>
          <p:cNvGrpSpPr/>
          <p:nvPr/>
        </p:nvGrpSpPr>
        <p:grpSpPr>
          <a:xfrm>
            <a:off x="8686800" y="4572000"/>
            <a:ext cx="76200" cy="76200"/>
            <a:chOff x="0" y="0"/>
            <a:chExt cx="76200" cy="76200"/>
          </a:xfrm>
        </p:grpSpPr>
        <p:cxnSp>
          <p:nvCxnSpPr>
            <p:cNvPr id="68" name="Google Shape;68;p14"/>
            <p:cNvCxnSpPr/>
            <p:nvPr/>
          </p:nvCxnSpPr>
          <p:spPr>
            <a:xfrm>
              <a:off x="0" y="3810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" name="Google Shape;69;p14"/>
            <p:cNvCxnSpPr/>
            <p:nvPr/>
          </p:nvCxnSpPr>
          <p:spPr>
            <a:xfrm>
              <a:off x="38100" y="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0" name="Google Shape;70;p14"/>
          <p:cNvCxnSpPr/>
          <p:nvPr/>
        </p:nvCxnSpPr>
        <p:spPr>
          <a:xfrm>
            <a:off x="457200" y="4381500"/>
            <a:ext cx="0" cy="1905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09090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/>
          <p:nvPr/>
        </p:nvCxnSpPr>
        <p:spPr>
          <a:xfrm>
            <a:off x="457200" y="4572000"/>
            <a:ext cx="190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0909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4"/>
          <p:cNvSpPr txBox="1"/>
          <p:nvPr/>
        </p:nvSpPr>
        <p:spPr>
          <a:xfrm>
            <a:off x="609600" y="533400"/>
            <a:ext cx="792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5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rPr>
              <a:t>Startup Profitability Analysis</a:t>
            </a:r>
            <a:endParaRPr b="1" sz="2250">
              <a:solidFill>
                <a:srgbClr val="0909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GB" sz="1125">
                <a:solidFill>
                  <a:srgbClr val="52525B"/>
                </a:solidFill>
                <a:latin typeface="Inter Medium"/>
                <a:ea typeface="Inter Medium"/>
                <a:cs typeface="Inter Medium"/>
                <a:sym typeface="Inter Medium"/>
              </a:rPr>
              <a:t>Evaluating Expenditure Impact on Net Profit Across 50 Startups</a:t>
            </a:r>
            <a:endParaRPr b="0" sz="1125">
              <a:solidFill>
                <a:srgbClr val="52525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73" name="Google Shape;73;p14"/>
          <p:cNvGrpSpPr/>
          <p:nvPr/>
        </p:nvGrpSpPr>
        <p:grpSpPr>
          <a:xfrm>
            <a:off x="609600" y="1571625"/>
            <a:ext cx="7924800" cy="1047900"/>
            <a:chOff x="0" y="0"/>
            <a:chExt cx="7924800" cy="1047900"/>
          </a:xfrm>
        </p:grpSpPr>
        <p:sp>
          <p:nvSpPr>
            <p:cNvPr id="74" name="Google Shape;74;p14"/>
            <p:cNvSpPr/>
            <p:nvPr/>
          </p:nvSpPr>
          <p:spPr>
            <a:xfrm>
              <a:off x="0" y="0"/>
              <a:ext cx="7924800" cy="10479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0" y="0"/>
              <a:ext cx="38100" cy="10479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" name="Google Shape;76;p14"/>
            <p:cNvGrpSpPr/>
            <p:nvPr/>
          </p:nvGrpSpPr>
          <p:grpSpPr>
            <a:xfrm>
              <a:off x="7753350" y="95250"/>
              <a:ext cx="76200" cy="76200"/>
              <a:chOff x="0" y="0"/>
              <a:chExt cx="76200" cy="76200"/>
            </a:xfrm>
          </p:grpSpPr>
          <p:cxnSp>
            <p:nvCxnSpPr>
              <p:cNvPr id="77" name="Google Shape;77;p14"/>
              <p:cNvCxnSpPr/>
              <p:nvPr/>
            </p:nvCxnSpPr>
            <p:spPr>
              <a:xfrm>
                <a:off x="0" y="3810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14"/>
              <p:cNvCxnSpPr/>
              <p:nvPr/>
            </p:nvCxnSpPr>
            <p:spPr>
              <a:xfrm>
                <a:off x="38100" y="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9" name="Google Shape;79;p14"/>
            <p:cNvSpPr txBox="1"/>
            <p:nvPr/>
          </p:nvSpPr>
          <p:spPr>
            <a:xfrm>
              <a:off x="266700" y="152400"/>
              <a:ext cx="73914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KEY FINDING</a:t>
              </a:r>
              <a:endParaRPr b="1" sz="7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350">
                  <a:solidFill>
                    <a:srgbClr val="09090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R&amp;D Spend is the overwhelmingly dominant driver of profit, while Administrative costs yield a negative return on investment.</a:t>
              </a:r>
              <a:endParaRPr b="0" sz="1350">
                <a:solidFill>
                  <a:srgbClr val="09090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0" name="Google Shape;80;p14"/>
          <p:cNvGrpSpPr/>
          <p:nvPr/>
        </p:nvGrpSpPr>
        <p:grpSpPr>
          <a:xfrm>
            <a:off x="609600" y="2905125"/>
            <a:ext cx="7924800" cy="1047900"/>
            <a:chOff x="0" y="0"/>
            <a:chExt cx="7924800" cy="1047900"/>
          </a:xfrm>
        </p:grpSpPr>
        <p:grpSp>
          <p:nvGrpSpPr>
            <p:cNvPr id="81" name="Google Shape;81;p14"/>
            <p:cNvGrpSpPr/>
            <p:nvPr/>
          </p:nvGrpSpPr>
          <p:grpSpPr>
            <a:xfrm>
              <a:off x="0" y="0"/>
              <a:ext cx="7924800" cy="476400"/>
              <a:chOff x="0" y="0"/>
              <a:chExt cx="7924800" cy="476400"/>
            </a:xfrm>
          </p:grpSpPr>
          <p:sp>
            <p:nvSpPr>
              <p:cNvPr id="82" name="Google Shape;82;p14"/>
              <p:cNvSpPr/>
              <p:nvPr/>
            </p:nvSpPr>
            <p:spPr>
              <a:xfrm>
                <a:off x="0" y="5715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75000" y="0"/>
                    </a:moveTo>
                    <a:lnTo>
                      <a:pt x="120000" y="60000"/>
                    </a:lnTo>
                    <a:lnTo>
                      <a:pt x="75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4"/>
              <p:cNvSpPr txBox="1"/>
              <p:nvPr/>
            </p:nvSpPr>
            <p:spPr>
              <a:xfrm>
                <a:off x="228600" y="0"/>
                <a:ext cx="76962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09090B"/>
                    </a:solidFill>
                    <a:latin typeface="Inter"/>
                    <a:ea typeface="Inter"/>
                    <a:cs typeface="Inter"/>
                    <a:sym typeface="Inter"/>
                  </a:rPr>
                  <a:t>Objective:</a:t>
                </a:r>
                <a:r>
                  <a:rPr b="0" lang="en-GB" sz="1050">
                    <a:solidFill>
                      <a:srgbClr val="09090B"/>
                    </a:solidFill>
                    <a:latin typeface="Inter"/>
                    <a:ea typeface="Inter"/>
                    <a:cs typeface="Inter"/>
                    <a:sym typeface="Inter"/>
                  </a:rPr>
                  <a:t> Analyze expenditures to determine the statistical impact of R&amp;D, Administration, and Marketing on overall net profit.</a:t>
                </a:r>
                <a:endParaRPr b="0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4" name="Google Shape;84;p14"/>
            <p:cNvGrpSpPr/>
            <p:nvPr/>
          </p:nvGrpSpPr>
          <p:grpSpPr>
            <a:xfrm>
              <a:off x="0" y="571500"/>
              <a:ext cx="7924800" cy="476400"/>
              <a:chOff x="0" y="0"/>
              <a:chExt cx="7924800" cy="476400"/>
            </a:xfrm>
          </p:grpSpPr>
          <p:sp>
            <p:nvSpPr>
              <p:cNvPr id="85" name="Google Shape;85;p14"/>
              <p:cNvSpPr/>
              <p:nvPr/>
            </p:nvSpPr>
            <p:spPr>
              <a:xfrm>
                <a:off x="0" y="5715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75000" y="0"/>
                    </a:moveTo>
                    <a:lnTo>
                      <a:pt x="120000" y="60000"/>
                    </a:lnTo>
                    <a:lnTo>
                      <a:pt x="75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 txBox="1"/>
              <p:nvPr/>
            </p:nvSpPr>
            <p:spPr>
              <a:xfrm>
                <a:off x="228600" y="0"/>
                <a:ext cx="76962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09090B"/>
                    </a:solidFill>
                    <a:latin typeface="Inter"/>
                    <a:ea typeface="Inter"/>
                    <a:cs typeface="Inter"/>
                    <a:sym typeface="Inter"/>
                  </a:rPr>
                  <a:t>Methodology:</a:t>
                </a:r>
                <a:r>
                  <a:rPr b="0" lang="en-GB" sz="1050">
                    <a:solidFill>
                      <a:srgbClr val="09090B"/>
                    </a:solidFill>
                    <a:latin typeface="Inter"/>
                    <a:ea typeface="Inter"/>
                    <a:cs typeface="Inter"/>
                    <a:sym typeface="Inter"/>
                  </a:rPr>
                  <a:t> Multiple Linear Regression (Excel) and interactive data visualization (Power BI).</a:t>
                </a:r>
                <a:endParaRPr b="0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457200" y="228600"/>
            <a:ext cx="8229600" cy="76200"/>
            <a:chOff x="457200" y="228600"/>
            <a:chExt cx="8229600" cy="76200"/>
          </a:xfrm>
        </p:grpSpPr>
        <p:sp>
          <p:nvSpPr>
            <p:cNvPr id="95" name="Google Shape;95;p15"/>
            <p:cNvSpPr/>
            <p:nvPr/>
          </p:nvSpPr>
          <p:spPr>
            <a:xfrm>
              <a:off x="457200" y="228600"/>
              <a:ext cx="762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" name="Google Shape;96;p15"/>
            <p:cNvCxnSpPr/>
            <p:nvPr/>
          </p:nvCxnSpPr>
          <p:spPr>
            <a:xfrm>
              <a:off x="609600" y="266700"/>
              <a:ext cx="8077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7" name="Google Shape;97;p15"/>
          <p:cNvSpPr/>
          <p:nvPr/>
        </p:nvSpPr>
        <p:spPr>
          <a:xfrm>
            <a:off x="457200" y="762000"/>
            <a:ext cx="82296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5"/>
          <p:cNvGrpSpPr/>
          <p:nvPr/>
        </p:nvGrpSpPr>
        <p:grpSpPr>
          <a:xfrm>
            <a:off x="419100" y="723900"/>
            <a:ext cx="76200" cy="76200"/>
            <a:chOff x="-38100" y="-38100"/>
            <a:chExt cx="76200" cy="76200"/>
          </a:xfrm>
        </p:grpSpPr>
        <p:cxnSp>
          <p:nvCxnSpPr>
            <p:cNvPr id="99" name="Google Shape;99;p15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15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" name="Google Shape;101;p15"/>
          <p:cNvGrpSpPr/>
          <p:nvPr/>
        </p:nvGrpSpPr>
        <p:grpSpPr>
          <a:xfrm>
            <a:off x="8648700" y="723900"/>
            <a:ext cx="76200" cy="76200"/>
            <a:chOff x="-38100" y="-38100"/>
            <a:chExt cx="76200" cy="76200"/>
          </a:xfrm>
        </p:grpSpPr>
        <p:cxnSp>
          <p:nvCxnSpPr>
            <p:cNvPr id="102" name="Google Shape;102;p15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5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" name="Google Shape;104;p15"/>
          <p:cNvGrpSpPr/>
          <p:nvPr/>
        </p:nvGrpSpPr>
        <p:grpSpPr>
          <a:xfrm>
            <a:off x="419100" y="4724400"/>
            <a:ext cx="76200" cy="76200"/>
            <a:chOff x="-38100" y="-38100"/>
            <a:chExt cx="76200" cy="76200"/>
          </a:xfrm>
        </p:grpSpPr>
        <p:cxnSp>
          <p:nvCxnSpPr>
            <p:cNvPr id="105" name="Google Shape;105;p15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15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7" name="Google Shape;107;p15"/>
          <p:cNvGrpSpPr/>
          <p:nvPr/>
        </p:nvGrpSpPr>
        <p:grpSpPr>
          <a:xfrm>
            <a:off x="8648700" y="4724400"/>
            <a:ext cx="76200" cy="76200"/>
            <a:chOff x="-38100" y="-38100"/>
            <a:chExt cx="76200" cy="76200"/>
          </a:xfrm>
        </p:grpSpPr>
        <p:cxnSp>
          <p:nvCxnSpPr>
            <p:cNvPr id="108" name="Google Shape;108;p15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15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0" name="Google Shape;110;p15"/>
          <p:cNvSpPr txBox="1"/>
          <p:nvPr/>
        </p:nvSpPr>
        <p:spPr>
          <a:xfrm>
            <a:off x="685800" y="952500"/>
            <a:ext cx="7772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CORE FINDING</a:t>
            </a:r>
            <a:endParaRPr b="1" sz="750">
              <a:solidFill>
                <a:srgbClr val="2563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rPr>
              <a:t>Over 95% of Profitability Variance is Explained by Three Core Spend Categories</a:t>
            </a:r>
            <a:endParaRPr b="1" sz="1500">
              <a:solidFill>
                <a:srgbClr val="09090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1" name="Google Shape;111;p15"/>
          <p:cNvCxnSpPr/>
          <p:nvPr/>
        </p:nvCxnSpPr>
        <p:spPr>
          <a:xfrm>
            <a:off x="685800" y="1543050"/>
            <a:ext cx="77724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5"/>
          <p:cNvGrpSpPr/>
          <p:nvPr/>
        </p:nvGrpSpPr>
        <p:grpSpPr>
          <a:xfrm>
            <a:off x="685800" y="1714500"/>
            <a:ext cx="2209800" cy="1257300"/>
            <a:chOff x="0" y="0"/>
            <a:chExt cx="2209800" cy="1257300"/>
          </a:xfrm>
        </p:grpSpPr>
        <p:sp>
          <p:nvSpPr>
            <p:cNvPr id="113" name="Google Shape;113;p15"/>
            <p:cNvSpPr/>
            <p:nvPr/>
          </p:nvSpPr>
          <p:spPr>
            <a:xfrm>
              <a:off x="0" y="0"/>
              <a:ext cx="2209800" cy="1257300"/>
            </a:xfrm>
            <a:prstGeom prst="rect">
              <a:avLst/>
            </a:prstGeom>
            <a:solidFill>
              <a:srgbClr val="F4F4F5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0" y="0"/>
              <a:ext cx="22098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171450" y="152400"/>
              <a:ext cx="186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GB" sz="750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MODEL ACCURACY (R²)</a:t>
              </a:r>
              <a:endParaRPr b="1" sz="750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171450" y="361950"/>
              <a:ext cx="18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-GB" sz="24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0.9507</a:t>
              </a:r>
              <a:endParaRPr b="1" sz="2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171450" y="781050"/>
              <a:ext cx="1866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-GB" sz="765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Yields exceptional predictive accuracy across the analyzed dataset.</a:t>
              </a:r>
              <a:endParaRPr b="0" sz="765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3048000" y="1714500"/>
            <a:ext cx="5410200" cy="1257300"/>
            <a:chOff x="0" y="0"/>
            <a:chExt cx="5410200" cy="1257300"/>
          </a:xfrm>
        </p:grpSpPr>
        <p:sp>
          <p:nvSpPr>
            <p:cNvPr id="119" name="Google Shape;119;p15"/>
            <p:cNvSpPr/>
            <p:nvPr/>
          </p:nvSpPr>
          <p:spPr>
            <a:xfrm>
              <a:off x="0" y="0"/>
              <a:ext cx="5410200" cy="12573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0" y="0"/>
              <a:ext cx="38100" cy="1257300"/>
            </a:xfrm>
            <a:prstGeom prst="rect">
              <a:avLst/>
            </a:prstGeom>
            <a:solidFill>
              <a:srgbClr val="0909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190500" y="15240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GB" sz="750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REGRESSION EQUATION</a:t>
              </a:r>
              <a:endParaRPr b="1" sz="750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190500" y="400050"/>
              <a:ext cx="5029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6">
                  <a:solidFill>
                    <a:srgbClr val="09090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Profit = 50122.19 + (0.8057 * R&amp;D) - (0.0268 * Admin) + (0.0272 * Marketing)</a:t>
              </a:r>
              <a:endParaRPr b="0" sz="956">
                <a:solidFill>
                  <a:srgbClr val="09090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grpSp>
          <p:nvGrpSpPr>
            <p:cNvPr id="123" name="Google Shape;123;p15"/>
            <p:cNvGrpSpPr/>
            <p:nvPr/>
          </p:nvGrpSpPr>
          <p:grpSpPr>
            <a:xfrm>
              <a:off x="190500" y="800100"/>
              <a:ext cx="4857600" cy="266700"/>
              <a:chOff x="0" y="0"/>
              <a:chExt cx="4857600" cy="266700"/>
            </a:xfrm>
          </p:grpSpPr>
          <p:grpSp>
            <p:nvGrpSpPr>
              <p:cNvPr id="124" name="Google Shape;124;p15"/>
              <p:cNvGrpSpPr/>
              <p:nvPr/>
            </p:nvGrpSpPr>
            <p:grpSpPr>
              <a:xfrm>
                <a:off x="0" y="0"/>
                <a:ext cx="1524000" cy="266700"/>
                <a:chOff x="0" y="0"/>
                <a:chExt cx="1524000" cy="266700"/>
              </a:xfrm>
            </p:grpSpPr>
            <p:sp>
              <p:nvSpPr>
                <p:cNvPr id="125" name="Google Shape;125;p15"/>
                <p:cNvSpPr/>
                <p:nvPr/>
              </p:nvSpPr>
              <p:spPr>
                <a:xfrm>
                  <a:off x="0" y="0"/>
                  <a:ext cx="1524000" cy="2667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4E4E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" name="Google Shape;126;p15"/>
                <p:cNvSpPr txBox="1"/>
                <p:nvPr/>
              </p:nvSpPr>
              <p:spPr>
                <a:xfrm>
                  <a:off x="76200" y="57150"/>
                  <a:ext cx="13716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25">
                      <a:solidFill>
                        <a:srgbClr val="059669"/>
                      </a:solidFill>
                      <a:latin typeface="Roboto Mono Medium"/>
                      <a:ea typeface="Roboto Mono Medium"/>
                      <a:cs typeface="Roboto Mono Medium"/>
                      <a:sym typeface="Roboto Mono Medium"/>
                    </a:rPr>
                    <a:t>R&amp;D: +0.8057</a:t>
                  </a:r>
                  <a:endParaRPr b="0" sz="825">
                    <a:solidFill>
                      <a:srgbClr val="059669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endParaRPr>
                </a:p>
              </p:txBody>
            </p:sp>
          </p:grpSp>
          <p:grpSp>
            <p:nvGrpSpPr>
              <p:cNvPr id="127" name="Google Shape;127;p15"/>
              <p:cNvGrpSpPr/>
              <p:nvPr/>
            </p:nvGrpSpPr>
            <p:grpSpPr>
              <a:xfrm>
                <a:off x="1619250" y="0"/>
                <a:ext cx="1524000" cy="266700"/>
                <a:chOff x="0" y="0"/>
                <a:chExt cx="1524000" cy="266700"/>
              </a:xfrm>
            </p:grpSpPr>
            <p:sp>
              <p:nvSpPr>
                <p:cNvPr id="128" name="Google Shape;128;p15"/>
                <p:cNvSpPr/>
                <p:nvPr/>
              </p:nvSpPr>
              <p:spPr>
                <a:xfrm>
                  <a:off x="0" y="0"/>
                  <a:ext cx="1524000" cy="2667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4E4E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" name="Google Shape;129;p15"/>
                <p:cNvSpPr txBox="1"/>
                <p:nvPr/>
              </p:nvSpPr>
              <p:spPr>
                <a:xfrm>
                  <a:off x="76200" y="57150"/>
                  <a:ext cx="13716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25">
                      <a:solidFill>
                        <a:srgbClr val="DC2626"/>
                      </a:solidFill>
                      <a:latin typeface="Roboto Mono Medium"/>
                      <a:ea typeface="Roboto Mono Medium"/>
                      <a:cs typeface="Roboto Mono Medium"/>
                      <a:sym typeface="Roboto Mono Medium"/>
                    </a:rPr>
                    <a:t>Admin: -0.0268</a:t>
                  </a:r>
                  <a:endParaRPr b="0" sz="825">
                    <a:solidFill>
                      <a:srgbClr val="DC2626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endParaRPr>
                </a:p>
              </p:txBody>
            </p:sp>
          </p:grpSp>
          <p:grpSp>
            <p:nvGrpSpPr>
              <p:cNvPr id="130" name="Google Shape;130;p15"/>
              <p:cNvGrpSpPr/>
              <p:nvPr/>
            </p:nvGrpSpPr>
            <p:grpSpPr>
              <a:xfrm>
                <a:off x="3238500" y="0"/>
                <a:ext cx="1619100" cy="266700"/>
                <a:chOff x="0" y="0"/>
                <a:chExt cx="1619100" cy="266700"/>
              </a:xfrm>
            </p:grpSpPr>
            <p:sp>
              <p:nvSpPr>
                <p:cNvPr id="131" name="Google Shape;131;p15"/>
                <p:cNvSpPr/>
                <p:nvPr/>
              </p:nvSpPr>
              <p:spPr>
                <a:xfrm>
                  <a:off x="0" y="0"/>
                  <a:ext cx="1619100" cy="2667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4E4E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" name="Google Shape;132;p15"/>
                <p:cNvSpPr txBox="1"/>
                <p:nvPr/>
              </p:nvSpPr>
              <p:spPr>
                <a:xfrm>
                  <a:off x="76200" y="57150"/>
                  <a:ext cx="14670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25">
                      <a:solidFill>
                        <a:srgbClr val="2563EB"/>
                      </a:solidFill>
                      <a:latin typeface="Roboto Mono Medium"/>
                      <a:ea typeface="Roboto Mono Medium"/>
                      <a:cs typeface="Roboto Mono Medium"/>
                      <a:sym typeface="Roboto Mono Medium"/>
                    </a:rPr>
                    <a:t>Marketing: +0.0272</a:t>
                  </a:r>
                  <a:endParaRPr b="0" sz="825">
                    <a:solidFill>
                      <a:srgbClr val="2563EB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endParaRPr>
                </a:p>
              </p:txBody>
            </p:sp>
          </p:grpSp>
        </p:grpSp>
      </p:grpSp>
      <p:grpSp>
        <p:nvGrpSpPr>
          <p:cNvPr id="133" name="Google Shape;133;p15"/>
          <p:cNvGrpSpPr/>
          <p:nvPr/>
        </p:nvGrpSpPr>
        <p:grpSpPr>
          <a:xfrm>
            <a:off x="685800" y="3162300"/>
            <a:ext cx="7772400" cy="1333500"/>
            <a:chOff x="0" y="0"/>
            <a:chExt cx="7772400" cy="1333500"/>
          </a:xfrm>
        </p:grpSpPr>
        <p:sp>
          <p:nvSpPr>
            <p:cNvPr id="134" name="Google Shape;134;p15"/>
            <p:cNvSpPr/>
            <p:nvPr/>
          </p:nvSpPr>
          <p:spPr>
            <a:xfrm>
              <a:off x="0" y="0"/>
              <a:ext cx="7772400" cy="133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0" y="0"/>
              <a:ext cx="38100" cy="13335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228600" y="171450"/>
              <a:ext cx="7315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GB" sz="7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STATISTICAL SIGNIFICANCE &amp; VARIABLE ANALYSIS</a:t>
              </a:r>
              <a:endParaRPr b="1" sz="7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7" name="Google Shape;137;p15"/>
            <p:cNvSpPr txBox="1"/>
            <p:nvPr/>
          </p:nvSpPr>
          <p:spPr>
            <a:xfrm>
              <a:off x="228600" y="419100"/>
              <a:ext cx="7315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R&amp;D Spend</a:t>
              </a:r>
              <a:r>
                <a:rPr b="0" lang="en-GB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 is a highly significant predictor of success, featuring an exceptionally strong p-value of </a:t>
              </a:r>
              <a:r>
                <a:rPr b="1" lang="en-GB" sz="975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2.6 × 10⁻²²</a:t>
              </a:r>
              <a:r>
                <a:rPr b="0" lang="en-GB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en-GB" sz="975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This makes R&amp;D expenditure the single most reliable variable in determining a startup's financial outcome, demonstrating that direct investment in innovation overwhelmingly drives positive profitability relative to administrative or marketing overhead.</a:t>
              </a:r>
              <a:endParaRPr b="0" sz="975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6"/>
          <p:cNvGrpSpPr/>
          <p:nvPr/>
        </p:nvGrpSpPr>
        <p:grpSpPr>
          <a:xfrm>
            <a:off x="457200" y="228600"/>
            <a:ext cx="8229600" cy="76200"/>
            <a:chOff x="457200" y="228600"/>
            <a:chExt cx="8229600" cy="76200"/>
          </a:xfrm>
        </p:grpSpPr>
        <p:sp>
          <p:nvSpPr>
            <p:cNvPr id="145" name="Google Shape;145;p16"/>
            <p:cNvSpPr/>
            <p:nvPr/>
          </p:nvSpPr>
          <p:spPr>
            <a:xfrm>
              <a:off x="457200" y="228600"/>
              <a:ext cx="762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" name="Google Shape;146;p16"/>
            <p:cNvCxnSpPr/>
            <p:nvPr/>
          </p:nvCxnSpPr>
          <p:spPr>
            <a:xfrm>
              <a:off x="609600" y="266700"/>
              <a:ext cx="8077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666750"/>
            <a:ext cx="9600" cy="400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16"/>
          <p:cNvGrpSpPr/>
          <p:nvPr/>
        </p:nvGrpSpPr>
        <p:grpSpPr>
          <a:xfrm>
            <a:off x="457200" y="647700"/>
            <a:ext cx="3962400" cy="762000"/>
            <a:chOff x="0" y="0"/>
            <a:chExt cx="3962400" cy="762000"/>
          </a:xfrm>
        </p:grpSpPr>
        <p:sp>
          <p:nvSpPr>
            <p:cNvPr id="149" name="Google Shape;149;p16"/>
            <p:cNvSpPr/>
            <p:nvPr/>
          </p:nvSpPr>
          <p:spPr>
            <a:xfrm>
              <a:off x="0" y="0"/>
              <a:ext cx="38100" cy="7620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152400" y="0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Florida Startups Lead Average Profitability While R&amp;D Consumes Over Half the Budget</a:t>
              </a:r>
              <a:endParaRPr b="1" sz="150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" name="Google Shape;151;p16"/>
          <p:cNvGrpSpPr/>
          <p:nvPr/>
        </p:nvGrpSpPr>
        <p:grpSpPr>
          <a:xfrm>
            <a:off x="457200" y="1600200"/>
            <a:ext cx="3962400" cy="1066950"/>
            <a:chOff x="0" y="0"/>
            <a:chExt cx="3962400" cy="1066950"/>
          </a:xfrm>
        </p:grpSpPr>
        <p:sp>
          <p:nvSpPr>
            <p:cNvPr id="152" name="Google Shape;152;p16"/>
            <p:cNvSpPr txBox="1"/>
            <p:nvPr/>
          </p:nvSpPr>
          <p:spPr>
            <a:xfrm>
              <a:off x="0" y="0"/>
              <a:ext cx="3962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GB" sz="750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PORTFOLIO OVERVIEW // 50 STARTUPS</a:t>
              </a:r>
              <a:endParaRPr b="1" sz="750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grpSp>
          <p:nvGrpSpPr>
            <p:cNvPr id="153" name="Google Shape;153;p16"/>
            <p:cNvGrpSpPr/>
            <p:nvPr/>
          </p:nvGrpSpPr>
          <p:grpSpPr>
            <a:xfrm>
              <a:off x="0" y="209550"/>
              <a:ext cx="1905000" cy="857400"/>
              <a:chOff x="0" y="0"/>
              <a:chExt cx="1905000" cy="857400"/>
            </a:xfrm>
          </p:grpSpPr>
          <p:sp>
            <p:nvSpPr>
              <p:cNvPr id="154" name="Google Shape;154;p16"/>
              <p:cNvSpPr/>
              <p:nvPr/>
            </p:nvSpPr>
            <p:spPr>
              <a:xfrm>
                <a:off x="0" y="0"/>
                <a:ext cx="1905000" cy="857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4E4E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0" y="0"/>
                <a:ext cx="1905000" cy="28500"/>
              </a:xfrm>
              <a:prstGeom prst="rect">
                <a:avLst/>
              </a:prstGeom>
              <a:solidFill>
                <a:srgbClr val="0909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6"/>
              <p:cNvSpPr txBox="1"/>
              <p:nvPr/>
            </p:nvSpPr>
            <p:spPr>
              <a:xfrm>
                <a:off x="133350" y="114300"/>
                <a:ext cx="1638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-GB" sz="675">
                    <a:solidFill>
                      <a:srgbClr val="5252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TOTAL PROFIT</a:t>
                </a:r>
                <a:endParaRPr b="1" sz="675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57" name="Google Shape;157;p16"/>
              <p:cNvSpPr txBox="1"/>
              <p:nvPr/>
            </p:nvSpPr>
            <p:spPr>
              <a:xfrm>
                <a:off x="133350" y="285750"/>
                <a:ext cx="16383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-GB" sz="1650">
                    <a:solidFill>
                      <a:srgbClr val="09090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$5.60M</a:t>
                </a:r>
                <a:endParaRPr b="1" sz="1650">
                  <a:solidFill>
                    <a:srgbClr val="09090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58" name="Google Shape;158;p16"/>
              <p:cNvSpPr txBox="1"/>
              <p:nvPr/>
            </p:nvSpPr>
            <p:spPr>
              <a:xfrm>
                <a:off x="133350" y="609600"/>
                <a:ext cx="1638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25">
                    <a:solidFill>
                      <a:srgbClr val="52525B"/>
                    </a:solidFill>
                    <a:latin typeface="Inter"/>
                    <a:ea typeface="Inter"/>
                    <a:cs typeface="Inter"/>
                    <a:sym typeface="Inter"/>
                  </a:rPr>
                  <a:t>Generated across 50 startups</a:t>
                </a:r>
                <a:endParaRPr b="0" sz="825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9" name="Google Shape;159;p16"/>
            <p:cNvGrpSpPr/>
            <p:nvPr/>
          </p:nvGrpSpPr>
          <p:grpSpPr>
            <a:xfrm>
              <a:off x="2057400" y="209550"/>
              <a:ext cx="1905000" cy="857400"/>
              <a:chOff x="0" y="0"/>
              <a:chExt cx="1905000" cy="857400"/>
            </a:xfrm>
          </p:grpSpPr>
          <p:sp>
            <p:nvSpPr>
              <p:cNvPr id="160" name="Google Shape;160;p16"/>
              <p:cNvSpPr/>
              <p:nvPr/>
            </p:nvSpPr>
            <p:spPr>
              <a:xfrm>
                <a:off x="0" y="0"/>
                <a:ext cx="1905000" cy="857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4E4E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0" y="0"/>
                <a:ext cx="1905000" cy="28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6"/>
              <p:cNvSpPr txBox="1"/>
              <p:nvPr/>
            </p:nvSpPr>
            <p:spPr>
              <a:xfrm>
                <a:off x="133350" y="114300"/>
                <a:ext cx="1638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-GB" sz="675">
                    <a:solidFill>
                      <a:srgbClr val="5252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AVERAGE PROFIT</a:t>
                </a:r>
                <a:endParaRPr b="1" sz="675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63" name="Google Shape;163;p16"/>
              <p:cNvSpPr txBox="1"/>
              <p:nvPr/>
            </p:nvSpPr>
            <p:spPr>
              <a:xfrm>
                <a:off x="133350" y="285750"/>
                <a:ext cx="16383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n-GB" sz="165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$112.01K</a:t>
                </a:r>
                <a:endParaRPr b="1" sz="16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64" name="Google Shape;164;p16"/>
              <p:cNvSpPr txBox="1"/>
              <p:nvPr/>
            </p:nvSpPr>
            <p:spPr>
              <a:xfrm>
                <a:off x="133350" y="609600"/>
                <a:ext cx="1638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25">
                    <a:solidFill>
                      <a:srgbClr val="52525B"/>
                    </a:solidFill>
                    <a:latin typeface="Inter"/>
                    <a:ea typeface="Inter"/>
                    <a:cs typeface="Inter"/>
                    <a:sym typeface="Inter"/>
                  </a:rPr>
                  <a:t>Mean profit per company</a:t>
                </a:r>
                <a:endParaRPr b="0" sz="825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65" name="Google Shape;165;p16"/>
          <p:cNvGrpSpPr/>
          <p:nvPr/>
        </p:nvGrpSpPr>
        <p:grpSpPr>
          <a:xfrm>
            <a:off x="457200" y="2895600"/>
            <a:ext cx="3962400" cy="1676400"/>
            <a:chOff x="0" y="0"/>
            <a:chExt cx="3962400" cy="16764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3962400" cy="1676400"/>
            </a:xfrm>
            <a:prstGeom prst="rect">
              <a:avLst/>
            </a:prstGeom>
            <a:solidFill>
              <a:srgbClr val="F4F4F5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0"/>
              <a:ext cx="38100" cy="1676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" name="Google Shape;168;p16"/>
            <p:cNvGrpSpPr/>
            <p:nvPr/>
          </p:nvGrpSpPr>
          <p:grpSpPr>
            <a:xfrm>
              <a:off x="3829050" y="57150"/>
              <a:ext cx="76200" cy="76200"/>
              <a:chOff x="0" y="0"/>
              <a:chExt cx="76200" cy="76200"/>
            </a:xfrm>
          </p:grpSpPr>
          <p:cxnSp>
            <p:nvCxnSpPr>
              <p:cNvPr id="169" name="Google Shape;169;p16"/>
              <p:cNvCxnSpPr/>
              <p:nvPr/>
            </p:nvCxnSpPr>
            <p:spPr>
              <a:xfrm>
                <a:off x="0" y="3810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p16"/>
              <p:cNvCxnSpPr/>
              <p:nvPr/>
            </p:nvCxnSpPr>
            <p:spPr>
              <a:xfrm>
                <a:off x="38100" y="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71" name="Google Shape;171;p16"/>
            <p:cNvSpPr txBox="1"/>
            <p:nvPr/>
          </p:nvSpPr>
          <p:spPr>
            <a:xfrm>
              <a:off x="190500" y="152400"/>
              <a:ext cx="3581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GB" sz="750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SPEND ALLOCATION // R&amp;D FOCUS</a:t>
              </a:r>
              <a:endParaRPr b="1" sz="750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190500" y="361950"/>
              <a:ext cx="3581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9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51.96% </a:t>
              </a:r>
              <a:r>
                <a:rPr b="0" lang="en-GB" sz="1200">
                  <a:solidFill>
                    <a:srgbClr val="5252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($10.55M)</a:t>
              </a:r>
              <a:endParaRPr b="1" sz="19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3" name="Google Shape;173;p16"/>
            <p:cNvSpPr txBox="1"/>
            <p:nvPr/>
          </p:nvSpPr>
          <p:spPr>
            <a:xfrm>
              <a:off x="190500" y="742950"/>
              <a:ext cx="358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75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Over half of the total budget across the portfolio (51.96%) is allocated strictly to R&amp;D, totaling $10.55M.</a:t>
              </a:r>
              <a:endParaRPr b="0" sz="975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4" name="Google Shape;174;p16"/>
            <p:cNvGrpSpPr/>
            <p:nvPr/>
          </p:nvGrpSpPr>
          <p:grpSpPr>
            <a:xfrm>
              <a:off x="190500" y="1257300"/>
              <a:ext cx="3581400" cy="304800"/>
              <a:chOff x="0" y="0"/>
              <a:chExt cx="3581400" cy="304800"/>
            </a:xfrm>
          </p:grpSpPr>
          <p:sp>
            <p:nvSpPr>
              <p:cNvPr id="175" name="Google Shape;175;p16"/>
              <p:cNvSpPr/>
              <p:nvPr/>
            </p:nvSpPr>
            <p:spPr>
              <a:xfrm>
                <a:off x="0" y="0"/>
                <a:ext cx="3581400" cy="114300"/>
              </a:xfrm>
              <a:prstGeom prst="rect">
                <a:avLst/>
              </a:prstGeom>
              <a:solidFill>
                <a:srgbClr val="E4E4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6"/>
              <p:cNvSpPr/>
              <p:nvPr/>
            </p:nvSpPr>
            <p:spPr>
              <a:xfrm>
                <a:off x="0" y="0"/>
                <a:ext cx="1861200" cy="1143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6"/>
              <p:cNvSpPr txBox="1"/>
              <p:nvPr/>
            </p:nvSpPr>
            <p:spPr>
              <a:xfrm>
                <a:off x="0" y="152400"/>
                <a:ext cx="1905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-GB" sz="675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R&amp;D SPEND: $10.55M</a:t>
                </a:r>
                <a:endParaRPr b="1" sz="675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78" name="Google Shape;178;p16"/>
              <p:cNvSpPr txBox="1"/>
              <p:nvPr/>
            </p:nvSpPr>
            <p:spPr>
              <a:xfrm>
                <a:off x="2057400" y="152400"/>
                <a:ext cx="1524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-GB" sz="675">
                    <a:solidFill>
                      <a:srgbClr val="5252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OTHER: 48.04%</a:t>
                </a:r>
                <a:endParaRPr b="1" sz="675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sp>
        <p:nvSpPr>
          <p:cNvPr id="179" name="Google Shape;179;p16"/>
          <p:cNvSpPr txBox="1"/>
          <p:nvPr/>
        </p:nvSpPr>
        <p:spPr>
          <a:xfrm>
            <a:off x="4724400" y="64770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94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rPr>
              <a:t>GEOGRAPHIC PERFORMANCE</a:t>
            </a:r>
            <a:endParaRPr b="1" sz="694">
              <a:solidFill>
                <a:srgbClr val="52525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600"/>
              </a:spcAft>
              <a:buNone/>
            </a:pPr>
            <a:r>
              <a:rPr b="0" lang="en-GB" sz="1041">
                <a:solidFill>
                  <a:srgbClr val="52525B"/>
                </a:solidFill>
                <a:latin typeface="Inter Medium"/>
                <a:ea typeface="Inter Medium"/>
                <a:cs typeface="Inter Medium"/>
                <a:sym typeface="Inter Medium"/>
              </a:rPr>
              <a:t>Average Profit by State Benchmark</a:t>
            </a:r>
            <a:endParaRPr b="0" sz="1041">
              <a:solidFill>
                <a:srgbClr val="52525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80" name="Google Shape;180;p16"/>
          <p:cNvGrpSpPr/>
          <p:nvPr/>
        </p:nvGrpSpPr>
        <p:grpSpPr>
          <a:xfrm>
            <a:off x="4724400" y="1085850"/>
            <a:ext cx="3962400" cy="1428900"/>
            <a:chOff x="0" y="0"/>
            <a:chExt cx="3962400" cy="1428900"/>
          </a:xfrm>
        </p:grpSpPr>
        <p:grpSp>
          <p:nvGrpSpPr>
            <p:cNvPr id="181" name="Google Shape;181;p16"/>
            <p:cNvGrpSpPr/>
            <p:nvPr/>
          </p:nvGrpSpPr>
          <p:grpSpPr>
            <a:xfrm>
              <a:off x="0" y="0"/>
              <a:ext cx="1219200" cy="1428900"/>
              <a:chOff x="0" y="0"/>
              <a:chExt cx="1219200" cy="1428900"/>
            </a:xfrm>
          </p:grpSpPr>
          <p:sp>
            <p:nvSpPr>
              <p:cNvPr id="182" name="Google Shape;182;p16"/>
              <p:cNvSpPr/>
              <p:nvPr/>
            </p:nvSpPr>
            <p:spPr>
              <a:xfrm>
                <a:off x="0" y="0"/>
                <a:ext cx="1219200" cy="14289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6"/>
              <p:cNvSpPr/>
              <p:nvPr/>
            </p:nvSpPr>
            <p:spPr>
              <a:xfrm>
                <a:off x="0" y="0"/>
                <a:ext cx="1219200" cy="381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6"/>
              <p:cNvSpPr txBox="1"/>
              <p:nvPr/>
            </p:nvSpPr>
            <p:spPr>
              <a:xfrm>
                <a:off x="114300" y="114300"/>
                <a:ext cx="990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-GB" sz="675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RANK 01 // TOP</a:t>
                </a:r>
                <a:endParaRPr b="1" sz="675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85" name="Google Shape;185;p16"/>
              <p:cNvSpPr txBox="1"/>
              <p:nvPr/>
            </p:nvSpPr>
            <p:spPr>
              <a:xfrm>
                <a:off x="114300" y="304800"/>
                <a:ext cx="9906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-GB" sz="1050">
                    <a:solidFill>
                      <a:srgbClr val="09090B"/>
                    </a:solidFill>
                    <a:latin typeface="Inter"/>
                    <a:ea typeface="Inter"/>
                    <a:cs typeface="Inter"/>
                    <a:sym typeface="Inter"/>
                  </a:rPr>
                  <a:t>Florida</a:t>
                </a:r>
                <a:endParaRPr b="1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6" name="Google Shape;186;p16"/>
              <p:cNvSpPr txBox="1"/>
              <p:nvPr/>
            </p:nvSpPr>
            <p:spPr>
              <a:xfrm>
                <a:off x="114300" y="552450"/>
                <a:ext cx="990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50"/>
                  </a:spcAft>
                  <a:buNone/>
                </a:pPr>
                <a:r>
                  <a:rPr b="1" lang="en-GB" sz="12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$118.77K</a:t>
                </a:r>
                <a:endParaRPr b="1" sz="12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cxnSp>
            <p:nvCxnSpPr>
              <p:cNvPr id="187" name="Google Shape;187;p16"/>
              <p:cNvCxnSpPr/>
              <p:nvPr/>
            </p:nvCxnSpPr>
            <p:spPr>
              <a:xfrm>
                <a:off x="114300" y="933450"/>
                <a:ext cx="990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4E4E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8" name="Google Shape;188;p16"/>
              <p:cNvSpPr txBox="1"/>
              <p:nvPr/>
            </p:nvSpPr>
            <p:spPr>
              <a:xfrm>
                <a:off x="114300" y="1009650"/>
                <a:ext cx="990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52525B"/>
                    </a:solidFill>
                    <a:latin typeface="Inter"/>
                    <a:ea typeface="Inter"/>
                    <a:cs typeface="Inter"/>
                    <a:sym typeface="Inter"/>
                  </a:rPr>
                  <a:t>+6.0% above portfolio avg</a:t>
                </a:r>
                <a:endParaRPr b="0" sz="75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9" name="Google Shape;189;p16"/>
            <p:cNvGrpSpPr/>
            <p:nvPr/>
          </p:nvGrpSpPr>
          <p:grpSpPr>
            <a:xfrm>
              <a:off x="1371600" y="0"/>
              <a:ext cx="1219200" cy="1428900"/>
              <a:chOff x="0" y="0"/>
              <a:chExt cx="1219200" cy="1428900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0" y="0"/>
                <a:ext cx="1219200" cy="1428900"/>
              </a:xfrm>
              <a:prstGeom prst="rect">
                <a:avLst/>
              </a:prstGeom>
              <a:solidFill>
                <a:srgbClr val="F4F4F5"/>
              </a:solidFill>
              <a:ln cap="flat" cmpd="sng" w="9525">
                <a:solidFill>
                  <a:srgbClr val="E4E4E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0" y="0"/>
                <a:ext cx="1219200" cy="38100"/>
              </a:xfrm>
              <a:prstGeom prst="rect">
                <a:avLst/>
              </a:prstGeom>
              <a:solidFill>
                <a:srgbClr val="0909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 txBox="1"/>
              <p:nvPr/>
            </p:nvSpPr>
            <p:spPr>
              <a:xfrm>
                <a:off x="114300" y="114300"/>
                <a:ext cx="990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-GB" sz="675">
                    <a:solidFill>
                      <a:srgbClr val="5252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RANK 02</a:t>
                </a:r>
                <a:endParaRPr b="1" sz="675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93" name="Google Shape;193;p16"/>
              <p:cNvSpPr txBox="1"/>
              <p:nvPr/>
            </p:nvSpPr>
            <p:spPr>
              <a:xfrm>
                <a:off x="114300" y="304800"/>
                <a:ext cx="9906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-GB" sz="1050">
                    <a:solidFill>
                      <a:srgbClr val="09090B"/>
                    </a:solidFill>
                    <a:latin typeface="Inter"/>
                    <a:ea typeface="Inter"/>
                    <a:cs typeface="Inter"/>
                    <a:sym typeface="Inter"/>
                  </a:rPr>
                  <a:t>New York</a:t>
                </a:r>
                <a:endParaRPr b="1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4" name="Google Shape;194;p16"/>
              <p:cNvSpPr txBox="1"/>
              <p:nvPr/>
            </p:nvSpPr>
            <p:spPr>
              <a:xfrm>
                <a:off x="114300" y="552450"/>
                <a:ext cx="990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50"/>
                  </a:spcAft>
                  <a:buNone/>
                </a:pPr>
                <a:r>
                  <a:rPr b="1" lang="en-GB" sz="1200">
                    <a:solidFill>
                      <a:srgbClr val="09090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$113.76K</a:t>
                </a:r>
                <a:endParaRPr b="1" sz="1200">
                  <a:solidFill>
                    <a:srgbClr val="09090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cxnSp>
            <p:nvCxnSpPr>
              <p:cNvPr id="195" name="Google Shape;195;p16"/>
              <p:cNvCxnSpPr/>
              <p:nvPr/>
            </p:nvCxnSpPr>
            <p:spPr>
              <a:xfrm>
                <a:off x="114300" y="933450"/>
                <a:ext cx="990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4E4E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96" name="Google Shape;196;p16"/>
              <p:cNvSpPr txBox="1"/>
              <p:nvPr/>
            </p:nvSpPr>
            <p:spPr>
              <a:xfrm>
                <a:off x="114300" y="1009650"/>
                <a:ext cx="990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52525B"/>
                    </a:solidFill>
                    <a:latin typeface="Inter"/>
                    <a:ea typeface="Inter"/>
                    <a:cs typeface="Inter"/>
                    <a:sym typeface="Inter"/>
                  </a:rPr>
                  <a:t>+1.6% above portfolio avg</a:t>
                </a:r>
                <a:endParaRPr b="0" sz="75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7" name="Google Shape;197;p16"/>
            <p:cNvGrpSpPr/>
            <p:nvPr/>
          </p:nvGrpSpPr>
          <p:grpSpPr>
            <a:xfrm>
              <a:off x="2743200" y="0"/>
              <a:ext cx="1219200" cy="1428900"/>
              <a:chOff x="0" y="0"/>
              <a:chExt cx="1219200" cy="1428900"/>
            </a:xfrm>
          </p:grpSpPr>
          <p:sp>
            <p:nvSpPr>
              <p:cNvPr id="198" name="Google Shape;198;p16"/>
              <p:cNvSpPr/>
              <p:nvPr/>
            </p:nvSpPr>
            <p:spPr>
              <a:xfrm>
                <a:off x="0" y="0"/>
                <a:ext cx="1219200" cy="1428900"/>
              </a:xfrm>
              <a:prstGeom prst="rect">
                <a:avLst/>
              </a:prstGeom>
              <a:solidFill>
                <a:srgbClr val="F4F4F5"/>
              </a:solidFill>
              <a:ln cap="flat" cmpd="sng" w="9525">
                <a:solidFill>
                  <a:srgbClr val="E4E4E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0" y="0"/>
                <a:ext cx="1219200" cy="38100"/>
              </a:xfrm>
              <a:prstGeom prst="rect">
                <a:avLst/>
              </a:prstGeom>
              <a:solidFill>
                <a:srgbClr val="5252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6"/>
              <p:cNvSpPr txBox="1"/>
              <p:nvPr/>
            </p:nvSpPr>
            <p:spPr>
              <a:xfrm>
                <a:off x="114300" y="114300"/>
                <a:ext cx="990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-GB" sz="675">
                    <a:solidFill>
                      <a:srgbClr val="5252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RANK 03</a:t>
                </a:r>
                <a:endParaRPr b="1" sz="675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201" name="Google Shape;201;p16"/>
              <p:cNvSpPr txBox="1"/>
              <p:nvPr/>
            </p:nvSpPr>
            <p:spPr>
              <a:xfrm>
                <a:off x="114300" y="304800"/>
                <a:ext cx="9906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1" lang="en-GB" sz="1050">
                    <a:solidFill>
                      <a:srgbClr val="09090B"/>
                    </a:solidFill>
                    <a:latin typeface="Inter"/>
                    <a:ea typeface="Inter"/>
                    <a:cs typeface="Inter"/>
                    <a:sym typeface="Inter"/>
                  </a:rPr>
                  <a:t>California</a:t>
                </a:r>
                <a:endParaRPr b="1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16"/>
              <p:cNvSpPr txBox="1"/>
              <p:nvPr/>
            </p:nvSpPr>
            <p:spPr>
              <a:xfrm>
                <a:off x="114300" y="552450"/>
                <a:ext cx="990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50"/>
                  </a:spcAft>
                  <a:buNone/>
                </a:pPr>
                <a:r>
                  <a:rPr b="1" lang="en-GB" sz="1200">
                    <a:solidFill>
                      <a:srgbClr val="09090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$103.91K</a:t>
                </a:r>
                <a:endParaRPr b="1" sz="1200">
                  <a:solidFill>
                    <a:srgbClr val="09090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cxnSp>
            <p:nvCxnSpPr>
              <p:cNvPr id="203" name="Google Shape;203;p16"/>
              <p:cNvCxnSpPr/>
              <p:nvPr/>
            </p:nvCxnSpPr>
            <p:spPr>
              <a:xfrm>
                <a:off x="114300" y="933450"/>
                <a:ext cx="990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4E4E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04" name="Google Shape;204;p16"/>
              <p:cNvSpPr txBox="1"/>
              <p:nvPr/>
            </p:nvSpPr>
            <p:spPr>
              <a:xfrm>
                <a:off x="114300" y="1009650"/>
                <a:ext cx="990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52525B"/>
                    </a:solidFill>
                    <a:latin typeface="Inter"/>
                    <a:ea typeface="Inter"/>
                    <a:cs typeface="Inter"/>
                    <a:sym typeface="Inter"/>
                  </a:rPr>
                  <a:t>-7.2% below portfolio avg</a:t>
                </a:r>
                <a:endParaRPr b="0" sz="75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05" name="Google Shape;205;p16"/>
          <p:cNvGrpSpPr/>
          <p:nvPr/>
        </p:nvGrpSpPr>
        <p:grpSpPr>
          <a:xfrm>
            <a:off x="4724400" y="2667000"/>
            <a:ext cx="3962400" cy="1905000"/>
            <a:chOff x="0" y="0"/>
            <a:chExt cx="3962400" cy="19050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3962400" cy="1905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" name="Google Shape;207;p16"/>
            <p:cNvGrpSpPr/>
            <p:nvPr/>
          </p:nvGrpSpPr>
          <p:grpSpPr>
            <a:xfrm>
              <a:off x="3829050" y="57150"/>
              <a:ext cx="76200" cy="76200"/>
              <a:chOff x="0" y="0"/>
              <a:chExt cx="76200" cy="76200"/>
            </a:xfrm>
          </p:grpSpPr>
          <p:cxnSp>
            <p:nvCxnSpPr>
              <p:cNvPr id="208" name="Google Shape;208;p16"/>
              <p:cNvCxnSpPr/>
              <p:nvPr/>
            </p:nvCxnSpPr>
            <p:spPr>
              <a:xfrm>
                <a:off x="0" y="3810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9" name="Google Shape;209;p16"/>
              <p:cNvCxnSpPr/>
              <p:nvPr/>
            </p:nvCxnSpPr>
            <p:spPr>
              <a:xfrm>
                <a:off x="38100" y="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10" name="Google Shape;210;p16"/>
            <p:cNvSpPr txBox="1"/>
            <p:nvPr/>
          </p:nvSpPr>
          <p:spPr>
            <a:xfrm>
              <a:off x="152400" y="133350"/>
              <a:ext cx="3657600" cy="1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i="0" lang="en-GB" sz="750" u="none" strike="noStrike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PROFITABILITY BENCHMARK CHART ($K)</a:t>
              </a:r>
              <a:endParaRPr b="1" i="0" sz="750" u="none" strike="noStrike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211" name="Google Shape;211;p16"/>
            <p:cNvCxnSpPr/>
            <p:nvPr/>
          </p:nvCxnSpPr>
          <p:spPr>
            <a:xfrm>
              <a:off x="762000" y="428625"/>
              <a:ext cx="0" cy="1143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16"/>
            <p:cNvCxnSpPr/>
            <p:nvPr/>
          </p:nvCxnSpPr>
          <p:spPr>
            <a:xfrm>
              <a:off x="762000" y="1571625"/>
              <a:ext cx="2857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09090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3" name="Google Shape;213;p16"/>
            <p:cNvGrpSpPr/>
            <p:nvPr/>
          </p:nvGrpSpPr>
          <p:grpSpPr>
            <a:xfrm>
              <a:off x="762000" y="1638300"/>
              <a:ext cx="2457450" cy="133500"/>
              <a:chOff x="0" y="0"/>
              <a:chExt cx="2457450" cy="133500"/>
            </a:xfrm>
          </p:grpSpPr>
          <p:sp>
            <p:nvSpPr>
              <p:cNvPr id="214" name="Google Shape;214;p16"/>
              <p:cNvSpPr txBox="1"/>
              <p:nvPr/>
            </p:nvSpPr>
            <p:spPr>
              <a:xfrm>
                <a:off x="0" y="0"/>
                <a:ext cx="381000" cy="133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i="0" lang="en-GB" sz="600" u="none" strike="noStrike">
                    <a:solidFill>
                      <a:srgbClr val="5252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$0</a:t>
                </a:r>
                <a:endParaRPr b="1" i="0" sz="600" u="none" strike="noStrike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215" name="Google Shape;215;p16"/>
              <p:cNvSpPr txBox="1"/>
              <p:nvPr/>
            </p:nvSpPr>
            <p:spPr>
              <a:xfrm>
                <a:off x="981075" y="0"/>
                <a:ext cx="381000" cy="133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i="0" lang="en-GB" sz="600" u="none" strike="noStrike">
                    <a:solidFill>
                      <a:srgbClr val="5252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$50K</a:t>
                </a:r>
                <a:endParaRPr b="1" i="0" sz="600" u="none" strike="noStrike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216" name="Google Shape;216;p16"/>
              <p:cNvSpPr txBox="1"/>
              <p:nvPr/>
            </p:nvSpPr>
            <p:spPr>
              <a:xfrm>
                <a:off x="2076450" y="0"/>
                <a:ext cx="381000" cy="133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i="0" lang="en-GB" sz="600" u="none" strike="noStrike">
                    <a:solidFill>
                      <a:srgbClr val="5252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$100K</a:t>
                </a:r>
                <a:endParaRPr b="1" i="0" sz="600" u="none" strike="noStrike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217" name="Google Shape;217;p16"/>
            <p:cNvGrpSpPr/>
            <p:nvPr/>
          </p:nvGrpSpPr>
          <p:grpSpPr>
            <a:xfrm>
              <a:off x="95250" y="523875"/>
              <a:ext cx="3133650" cy="933600"/>
              <a:chOff x="95250" y="523875"/>
              <a:chExt cx="3133650" cy="933600"/>
            </a:xfrm>
          </p:grpSpPr>
          <p:sp>
            <p:nvSpPr>
              <p:cNvPr id="218" name="Google Shape;218;p16"/>
              <p:cNvSpPr txBox="1"/>
              <p:nvPr/>
            </p:nvSpPr>
            <p:spPr>
              <a:xfrm>
                <a:off x="95250" y="523875"/>
                <a:ext cx="609600" cy="171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750">
                    <a:solidFill>
                      <a:srgbClr val="09090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Florida</a:t>
                </a:r>
                <a:endParaRPr b="0" i="0" sz="750">
                  <a:solidFill>
                    <a:srgbClr val="09090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9" name="Google Shape;219;p16"/>
              <p:cNvSpPr/>
              <p:nvPr/>
            </p:nvSpPr>
            <p:spPr>
              <a:xfrm>
                <a:off x="762000" y="523875"/>
                <a:ext cx="2466900" cy="171600"/>
              </a:xfrm>
              <a:prstGeom prst="roundRect">
                <a:avLst>
                  <a:gd fmla="val 5555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6"/>
              <p:cNvSpPr txBox="1"/>
              <p:nvPr/>
            </p:nvSpPr>
            <p:spPr>
              <a:xfrm>
                <a:off x="95250" y="904875"/>
                <a:ext cx="609600" cy="171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750">
                    <a:solidFill>
                      <a:srgbClr val="09090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New York</a:t>
                </a:r>
                <a:endParaRPr b="0" i="0" sz="750">
                  <a:solidFill>
                    <a:srgbClr val="09090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>
                <a:off x="762000" y="904875"/>
                <a:ext cx="2362200" cy="171600"/>
              </a:xfrm>
              <a:prstGeom prst="roundRect">
                <a:avLst>
                  <a:gd fmla="val 5555" name="adj"/>
                </a:avLst>
              </a:prstGeom>
              <a:solidFill>
                <a:srgbClr val="0909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6"/>
              <p:cNvSpPr txBox="1"/>
              <p:nvPr/>
            </p:nvSpPr>
            <p:spPr>
              <a:xfrm>
                <a:off x="95250" y="1285875"/>
                <a:ext cx="609600" cy="171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750">
                    <a:solidFill>
                      <a:srgbClr val="09090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California</a:t>
                </a:r>
                <a:endParaRPr b="0" i="0" sz="750">
                  <a:solidFill>
                    <a:srgbClr val="09090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762000" y="1285875"/>
                <a:ext cx="2157300" cy="171600"/>
              </a:xfrm>
              <a:prstGeom prst="roundRect">
                <a:avLst>
                  <a:gd fmla="val 5555" name="adj"/>
                </a:avLst>
              </a:prstGeom>
              <a:solidFill>
                <a:srgbClr val="5252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17"/>
          <p:cNvGrpSpPr/>
          <p:nvPr/>
        </p:nvGrpSpPr>
        <p:grpSpPr>
          <a:xfrm>
            <a:off x="457200" y="228600"/>
            <a:ext cx="8229600" cy="76200"/>
            <a:chOff x="457200" y="228600"/>
            <a:chExt cx="8229600" cy="76200"/>
          </a:xfrm>
        </p:grpSpPr>
        <p:sp>
          <p:nvSpPr>
            <p:cNvPr id="231" name="Google Shape;231;p17"/>
            <p:cNvSpPr/>
            <p:nvPr/>
          </p:nvSpPr>
          <p:spPr>
            <a:xfrm>
              <a:off x="457200" y="228600"/>
              <a:ext cx="762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2" name="Google Shape;232;p17"/>
            <p:cNvCxnSpPr/>
            <p:nvPr/>
          </p:nvCxnSpPr>
          <p:spPr>
            <a:xfrm>
              <a:off x="609600" y="266700"/>
              <a:ext cx="8077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3" name="Google Shape;233;p17"/>
          <p:cNvSpPr txBox="1"/>
          <p:nvPr/>
        </p:nvSpPr>
        <p:spPr>
          <a:xfrm>
            <a:off x="457200" y="457200"/>
            <a:ext cx="8229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rPr>
              <a:t>Regression Model Predicts ~$70K Profit for Sample New Startup Profiles</a:t>
            </a:r>
            <a:endParaRPr b="1" sz="1650">
              <a:solidFill>
                <a:srgbClr val="09090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4" name="Google Shape;234;p17"/>
          <p:cNvGrpSpPr/>
          <p:nvPr/>
        </p:nvGrpSpPr>
        <p:grpSpPr>
          <a:xfrm>
            <a:off x="457200" y="1143000"/>
            <a:ext cx="3962400" cy="3524400"/>
            <a:chOff x="0" y="0"/>
            <a:chExt cx="3962400" cy="3524400"/>
          </a:xfrm>
        </p:grpSpPr>
        <p:sp>
          <p:nvSpPr>
            <p:cNvPr id="235" name="Google Shape;235;p17"/>
            <p:cNvSpPr/>
            <p:nvPr/>
          </p:nvSpPr>
          <p:spPr>
            <a:xfrm>
              <a:off x="0" y="0"/>
              <a:ext cx="3962400" cy="3524400"/>
            </a:xfrm>
            <a:prstGeom prst="rect">
              <a:avLst/>
            </a:prstGeom>
            <a:solidFill>
              <a:srgbClr val="F4F4F5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0" y="0"/>
              <a:ext cx="39624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" name="Google Shape;237;p17"/>
            <p:cNvGrpSpPr/>
            <p:nvPr/>
          </p:nvGrpSpPr>
          <p:grpSpPr>
            <a:xfrm>
              <a:off x="3790950" y="114300"/>
              <a:ext cx="76200" cy="76200"/>
              <a:chOff x="0" y="0"/>
              <a:chExt cx="76200" cy="76200"/>
            </a:xfrm>
          </p:grpSpPr>
          <p:cxnSp>
            <p:nvCxnSpPr>
              <p:cNvPr id="238" name="Google Shape;238;p17"/>
              <p:cNvCxnSpPr/>
              <p:nvPr/>
            </p:nvCxnSpPr>
            <p:spPr>
              <a:xfrm>
                <a:off x="0" y="3810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9" name="Google Shape;239;p17"/>
              <p:cNvCxnSpPr/>
              <p:nvPr/>
            </p:nvCxnSpPr>
            <p:spPr>
              <a:xfrm>
                <a:off x="38100" y="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40" name="Google Shape;240;p17"/>
            <p:cNvSpPr txBox="1"/>
            <p:nvPr/>
          </p:nvSpPr>
          <p:spPr>
            <a:xfrm>
              <a:off x="228600" y="190500"/>
              <a:ext cx="35052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PROFILE // MODEL_INPUT_A</a:t>
              </a:r>
              <a:endParaRPr b="1" sz="750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Startup A Profile</a:t>
              </a:r>
              <a:endParaRPr b="1" sz="150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PREDICTED PROFIT</a:t>
              </a:r>
              <a:endParaRPr b="1" sz="750">
                <a:solidFill>
                  <a:srgbClr val="0596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225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$70,037.90</a:t>
              </a:r>
              <a:endParaRPr b="1" sz="2250">
                <a:solidFill>
                  <a:srgbClr val="0596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FINANCIAL INPUT METRICS</a:t>
              </a:r>
              <a:endParaRPr b="1" sz="750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R&amp;D SPEND</a:t>
              </a:r>
              <a:endParaRPr b="0" sz="90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25">
                  <a:solidFill>
                    <a:srgbClr val="09090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21,892.92</a:t>
              </a:r>
              <a:endParaRPr b="0" sz="1125">
                <a:solidFill>
                  <a:srgbClr val="09090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ADMINISTRATIVE SPEND</a:t>
              </a:r>
              <a:endParaRPr b="0" sz="90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25">
                  <a:solidFill>
                    <a:srgbClr val="09090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81,910.77</a:t>
              </a:r>
              <a:endParaRPr b="0" sz="1125">
                <a:solidFill>
                  <a:srgbClr val="09090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MARKETING SPEND</a:t>
              </a:r>
              <a:endParaRPr b="0" sz="90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25">
                  <a:solidFill>
                    <a:srgbClr val="09090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164,270.70</a:t>
              </a:r>
              <a:endParaRPr b="0" sz="1125">
                <a:solidFill>
                  <a:srgbClr val="09090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241" name="Google Shape;241;p17"/>
          <p:cNvGrpSpPr/>
          <p:nvPr/>
        </p:nvGrpSpPr>
        <p:grpSpPr>
          <a:xfrm>
            <a:off x="4724400" y="1143000"/>
            <a:ext cx="3962400" cy="3524400"/>
            <a:chOff x="0" y="0"/>
            <a:chExt cx="3962400" cy="3524400"/>
          </a:xfrm>
        </p:grpSpPr>
        <p:sp>
          <p:nvSpPr>
            <p:cNvPr id="242" name="Google Shape;242;p17"/>
            <p:cNvSpPr/>
            <p:nvPr/>
          </p:nvSpPr>
          <p:spPr>
            <a:xfrm>
              <a:off x="0" y="0"/>
              <a:ext cx="3962400" cy="3524400"/>
            </a:xfrm>
            <a:prstGeom prst="rect">
              <a:avLst/>
            </a:prstGeom>
            <a:solidFill>
              <a:srgbClr val="F4F4F5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0" y="0"/>
              <a:ext cx="39624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4" name="Google Shape;244;p17"/>
            <p:cNvGrpSpPr/>
            <p:nvPr/>
          </p:nvGrpSpPr>
          <p:grpSpPr>
            <a:xfrm>
              <a:off x="3790950" y="114300"/>
              <a:ext cx="76200" cy="76200"/>
              <a:chOff x="0" y="0"/>
              <a:chExt cx="76200" cy="76200"/>
            </a:xfrm>
          </p:grpSpPr>
          <p:cxnSp>
            <p:nvCxnSpPr>
              <p:cNvPr id="245" name="Google Shape;245;p17"/>
              <p:cNvCxnSpPr/>
              <p:nvPr/>
            </p:nvCxnSpPr>
            <p:spPr>
              <a:xfrm>
                <a:off x="0" y="3810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17"/>
              <p:cNvCxnSpPr/>
              <p:nvPr/>
            </p:nvCxnSpPr>
            <p:spPr>
              <a:xfrm>
                <a:off x="38100" y="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9090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47" name="Google Shape;247;p17"/>
            <p:cNvSpPr txBox="1"/>
            <p:nvPr/>
          </p:nvSpPr>
          <p:spPr>
            <a:xfrm>
              <a:off x="228600" y="190500"/>
              <a:ext cx="35052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PROFILE // MODEL_INPUT_B</a:t>
              </a:r>
              <a:endParaRPr b="1" sz="750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Startup B Profile</a:t>
              </a:r>
              <a:endParaRPr b="1" sz="150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PREDICTED PROFIT</a:t>
              </a:r>
              <a:endParaRPr b="1" sz="750">
                <a:solidFill>
                  <a:srgbClr val="0596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225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$70,554.57</a:t>
              </a:r>
              <a:endParaRPr b="1" sz="2250">
                <a:solidFill>
                  <a:srgbClr val="0596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5252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FINANCIAL INPUT METRICS</a:t>
              </a:r>
              <a:endParaRPr b="1" sz="750">
                <a:solidFill>
                  <a:srgbClr val="5252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R&amp;D SPEND</a:t>
              </a:r>
              <a:endParaRPr b="0" sz="90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25">
                  <a:solidFill>
                    <a:srgbClr val="09090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23,940.93</a:t>
              </a:r>
              <a:endParaRPr b="0" sz="1125">
                <a:solidFill>
                  <a:srgbClr val="09090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ADMINISTRATIVE SPEND</a:t>
              </a:r>
              <a:endParaRPr b="0" sz="90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25">
                  <a:solidFill>
                    <a:srgbClr val="09090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96,489.63</a:t>
              </a:r>
              <a:endParaRPr b="0" sz="1125">
                <a:solidFill>
                  <a:srgbClr val="09090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MARKETING SPEND</a:t>
              </a:r>
              <a:endParaRPr b="0" sz="90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25">
                  <a:solidFill>
                    <a:srgbClr val="09090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137,001.10</a:t>
              </a:r>
              <a:endParaRPr b="0" sz="1125">
                <a:solidFill>
                  <a:srgbClr val="09090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18"/>
          <p:cNvGrpSpPr/>
          <p:nvPr/>
        </p:nvGrpSpPr>
        <p:grpSpPr>
          <a:xfrm>
            <a:off x="457200" y="228600"/>
            <a:ext cx="8229600" cy="76200"/>
            <a:chOff x="457200" y="228600"/>
            <a:chExt cx="8229600" cy="76200"/>
          </a:xfrm>
        </p:grpSpPr>
        <p:sp>
          <p:nvSpPr>
            <p:cNvPr id="255" name="Google Shape;255;p18"/>
            <p:cNvSpPr/>
            <p:nvPr/>
          </p:nvSpPr>
          <p:spPr>
            <a:xfrm>
              <a:off x="457200" y="228600"/>
              <a:ext cx="762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6" name="Google Shape;256;p18"/>
            <p:cNvCxnSpPr/>
            <p:nvPr/>
          </p:nvCxnSpPr>
          <p:spPr>
            <a:xfrm>
              <a:off x="609600" y="266700"/>
              <a:ext cx="8077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7" name="Google Shape;257;p18"/>
          <p:cNvSpPr txBox="1"/>
          <p:nvPr/>
        </p:nvSpPr>
        <p:spPr>
          <a:xfrm>
            <a:off x="457200" y="5715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rPr>
              <a:t>Maximize R&amp;D Investment and Strictly Control Administrative Overhead</a:t>
            </a:r>
            <a:endParaRPr b="1" sz="1800">
              <a:solidFill>
                <a:srgbClr val="09090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8" name="Google Shape;258;p18"/>
          <p:cNvCxnSpPr/>
          <p:nvPr/>
        </p:nvCxnSpPr>
        <p:spPr>
          <a:xfrm>
            <a:off x="457200" y="1238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9" name="Google Shape;259;p18"/>
          <p:cNvGrpSpPr/>
          <p:nvPr/>
        </p:nvGrpSpPr>
        <p:grpSpPr>
          <a:xfrm>
            <a:off x="457200" y="1428750"/>
            <a:ext cx="8229600" cy="914400"/>
            <a:chOff x="0" y="0"/>
            <a:chExt cx="8229600" cy="914400"/>
          </a:xfrm>
        </p:grpSpPr>
        <p:sp>
          <p:nvSpPr>
            <p:cNvPr id="260" name="Google Shape;260;p18"/>
            <p:cNvSpPr/>
            <p:nvPr/>
          </p:nvSpPr>
          <p:spPr>
            <a:xfrm>
              <a:off x="0" y="0"/>
              <a:ext cx="8229600" cy="9144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0" y="0"/>
              <a:ext cx="38100" cy="9144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228600" y="20955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5000" y="0"/>
                  </a:moveTo>
                  <a:lnTo>
                    <a:pt x="120000" y="60000"/>
                  </a:lnTo>
                  <a:lnTo>
                    <a:pt x="75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sq" cmpd="sng" w="14300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419100" y="152400"/>
              <a:ext cx="7620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Maximize R&amp;D Investment:</a:t>
              </a:r>
              <a:endParaRPr b="0" sz="105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Direct the majority of capital to research and product development. Every $1 spent yields an estimated $0.81 in profit.</a:t>
              </a:r>
              <a:endParaRPr b="0" sz="105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4" name="Google Shape;264;p18"/>
          <p:cNvGrpSpPr/>
          <p:nvPr/>
        </p:nvGrpSpPr>
        <p:grpSpPr>
          <a:xfrm>
            <a:off x="457200" y="2533650"/>
            <a:ext cx="8229600" cy="914400"/>
            <a:chOff x="0" y="0"/>
            <a:chExt cx="8229600" cy="914400"/>
          </a:xfrm>
        </p:grpSpPr>
        <p:sp>
          <p:nvSpPr>
            <p:cNvPr id="265" name="Google Shape;265;p18"/>
            <p:cNvSpPr/>
            <p:nvPr/>
          </p:nvSpPr>
          <p:spPr>
            <a:xfrm>
              <a:off x="0" y="0"/>
              <a:ext cx="8229600" cy="9144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0" y="0"/>
              <a:ext cx="38100" cy="9144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228600" y="20955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5000" y="0"/>
                  </a:moveTo>
                  <a:lnTo>
                    <a:pt x="120000" y="60000"/>
                  </a:lnTo>
                  <a:lnTo>
                    <a:pt x="75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sq" cmpd="sng" w="143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 txBox="1"/>
            <p:nvPr/>
          </p:nvSpPr>
          <p:spPr>
            <a:xfrm>
              <a:off x="419100" y="152400"/>
              <a:ext cx="7620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Minimize Administrative Overhead:</a:t>
              </a:r>
              <a:endParaRPr b="0" sz="105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Administrative spending negatively impacts profitability (coefficient of -0.0268). Enforce strict budget controls on non-product operational costs.</a:t>
              </a:r>
              <a:endParaRPr b="0" sz="105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9" name="Google Shape;269;p18"/>
          <p:cNvGrpSpPr/>
          <p:nvPr/>
        </p:nvGrpSpPr>
        <p:grpSpPr>
          <a:xfrm>
            <a:off x="457200" y="3638550"/>
            <a:ext cx="8229600" cy="914400"/>
            <a:chOff x="0" y="0"/>
            <a:chExt cx="8229600" cy="914400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0"/>
              <a:ext cx="8229600" cy="9144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0" y="0"/>
              <a:ext cx="38100" cy="914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228600" y="20955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5000" y="0"/>
                  </a:moveTo>
                  <a:lnTo>
                    <a:pt x="120000" y="60000"/>
                  </a:lnTo>
                  <a:lnTo>
                    <a:pt x="75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sq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8"/>
            <p:cNvSpPr txBox="1"/>
            <p:nvPr/>
          </p:nvSpPr>
          <p:spPr>
            <a:xfrm>
              <a:off x="419100" y="152400"/>
              <a:ext cx="7620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9090B"/>
                  </a:solidFill>
                  <a:latin typeface="Inter"/>
                  <a:ea typeface="Inter"/>
                  <a:cs typeface="Inter"/>
                  <a:sym typeface="Inter"/>
                </a:rPr>
                <a:t>Targeted Marketing:</a:t>
              </a:r>
              <a:endParaRPr b="0" sz="1050">
                <a:solidFill>
                  <a:srgbClr val="09090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52525B"/>
                  </a:solidFill>
                  <a:latin typeface="Inter"/>
                  <a:ea typeface="Inter"/>
                  <a:cs typeface="Inter"/>
                  <a:sym typeface="Inter"/>
                </a:rPr>
                <a:t>Maintain a balanced marketing budget. It provides a modest positive return (coefficient of 0.0272) but cannot compensate for low R&amp;D investment.</a:t>
              </a:r>
              <a:endParaRPr b="0" sz="1050">
                <a:solidFill>
                  <a:srgbClr val="5252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